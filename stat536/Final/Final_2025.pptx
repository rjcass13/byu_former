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7" r:id="rId2"/>
    <p:sldId id="316" r:id="rId3"/>
    <p:sldId id="324" r:id="rId4"/>
    <p:sldId id="325" r:id="rId5"/>
    <p:sldId id="326" r:id="rId6"/>
    <p:sldId id="327" r:id="rId7"/>
    <p:sldId id="329" r:id="rId8"/>
    <p:sldId id="330" r:id="rId9"/>
    <p:sldId id="331" r:id="rId10"/>
    <p:sldId id="332" r:id="rId11"/>
    <p:sldId id="333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9" autoAdjust="0"/>
    <p:restoredTop sz="94718" autoAdjust="0"/>
  </p:normalViewPr>
  <p:slideViewPr>
    <p:cSldViewPr snapToGrid="0" snapToObjects="1">
      <p:cViewPr varScale="1">
        <p:scale>
          <a:sx n="117" d="100"/>
          <a:sy n="117" d="100"/>
        </p:scale>
        <p:origin x="136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A4CC06-1492-D245-A751-569625AA714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1EA46-3898-7F44-B776-AA396A053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41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51EA46-3898-7F44-B776-AA396A053D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194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486873" y="411480"/>
            <a:ext cx="8170254" cy="6035040"/>
            <a:chOff x="486873" y="411480"/>
            <a:chExt cx="8170254" cy="6035040"/>
          </a:xfrm>
        </p:grpSpPr>
        <p:sp>
          <p:nvSpPr>
            <p:cNvPr id="8" name="Rectangle 7"/>
            <p:cNvSpPr/>
            <p:nvPr/>
          </p:nvSpPr>
          <p:spPr>
            <a:xfrm>
              <a:off x="486873" y="411480"/>
              <a:ext cx="8170254" cy="6035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>
              <a:spLocks/>
            </p:cNvSpPr>
            <p:nvPr/>
          </p:nvSpPr>
          <p:spPr>
            <a:xfrm>
              <a:off x="562843" y="475488"/>
              <a:ext cx="7982712" cy="5888736"/>
            </a:xfrm>
            <a:prstGeom prst="rect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62843" y="457200"/>
              <a:ext cx="7982712" cy="25786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3950"/>
            <a:ext cx="7342188" cy="1924050"/>
          </a:xfrm>
        </p:spPr>
        <p:txBody>
          <a:bodyPr anchor="b" anchorCtr="0">
            <a:noAutofit/>
          </a:bodyPr>
          <a:lstStyle>
            <a:lvl1pPr>
              <a:defRPr sz="5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29000"/>
            <a:ext cx="7342188" cy="1752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3" name="Rectangle 12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256032" y="1602706"/>
              <a:ext cx="8622792" cy="64008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2" y="237744"/>
            <a:ext cx="7345362" cy="13398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486873" y="411480"/>
            <a:ext cx="8170254" cy="6035040"/>
            <a:chOff x="486873" y="411480"/>
            <a:chExt cx="8170254" cy="6035040"/>
          </a:xfrm>
        </p:grpSpPr>
        <p:sp>
          <p:nvSpPr>
            <p:cNvPr id="12" name="Rectangle 11"/>
            <p:cNvSpPr/>
            <p:nvPr/>
          </p:nvSpPr>
          <p:spPr>
            <a:xfrm>
              <a:off x="486873" y="411480"/>
              <a:ext cx="8170254" cy="6035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11"/>
            <p:cNvGrpSpPr/>
            <p:nvPr/>
          </p:nvGrpSpPr>
          <p:grpSpPr>
            <a:xfrm>
              <a:off x="562842" y="475488"/>
              <a:ext cx="7982713" cy="5888736"/>
              <a:chOff x="562842" y="475488"/>
              <a:chExt cx="7982713" cy="5888736"/>
            </a:xfrm>
          </p:grpSpPr>
          <p:sp>
            <p:nvSpPr>
              <p:cNvPr id="8" name="Rectangle 7"/>
              <p:cNvSpPr>
                <a:spLocks/>
              </p:cNvSpPr>
              <p:nvPr/>
            </p:nvSpPr>
            <p:spPr>
              <a:xfrm>
                <a:off x="562843" y="475488"/>
                <a:ext cx="7982712" cy="5888736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9" name="Straight Connector 8"/>
              <p:cNvCxnSpPr/>
              <p:nvPr/>
            </p:nvCxnSpPr>
            <p:spPr>
              <a:xfrm>
                <a:off x="562842" y="6133646"/>
                <a:ext cx="7982712" cy="1472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62842" y="3427528"/>
                <a:ext cx="7982712" cy="1472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0113" y="3442447"/>
            <a:ext cx="7345362" cy="1532965"/>
          </a:xfrm>
        </p:spPr>
        <p:txBody>
          <a:bodyPr anchor="b" anchorCtr="0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113" y="5029200"/>
            <a:ext cx="7345362" cy="990600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9259" y="6122894"/>
            <a:ext cx="2133600" cy="259317"/>
          </a:xfrm>
        </p:spPr>
        <p:txBody>
          <a:bodyPr/>
          <a:lstStyle/>
          <a:p>
            <a:fld id="{7D290233-0DD1-4A80-BB1E-9ADC3556DBB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124401"/>
            <a:ext cx="2895600" cy="25781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636493" y="533400"/>
            <a:ext cx="7836408" cy="2828925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182880" y="173699"/>
            <a:ext cx="8778240" cy="651060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  <a:scene3d>
            <a:camera prst="perspectiveFront" fov="4800000"/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1371600"/>
            <a:ext cx="7345362" cy="1676400"/>
          </a:xfrm>
        </p:spPr>
        <p:txBody>
          <a:bodyPr anchor="b" anchorCtr="0">
            <a:noAutofit/>
          </a:bodyPr>
          <a:lstStyle>
            <a:lvl1pPr algn="ctr">
              <a:defRPr sz="5400" b="0" i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13" y="3134566"/>
            <a:ext cx="7345362" cy="1500187"/>
          </a:xfrm>
        </p:spPr>
        <p:txBody>
          <a:bodyPr anchor="t" anchorCtr="0"/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21" name="Rectangle 20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23" name="Rectangle 22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4" name="Straight Connector 23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5" name="Rectangle 24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1" y="2147888"/>
            <a:ext cx="3566160" cy="39274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2147888"/>
            <a:ext cx="3566160" cy="39274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26" name="Group 2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8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29" name="Rectangle 28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31" name="Straight Connector 30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2" name="Rectangle 31"/>
                <p:cNvSpPr/>
                <p:nvPr/>
              </p:nvSpPr>
              <p:spPr>
                <a:xfrm>
                  <a:off x="247157" y="1612392"/>
                  <a:ext cx="8622792" cy="64008"/>
                </a:xfrm>
                <a:prstGeom prst="rect">
                  <a:avLst/>
                </a:prstGeom>
                <a:solidFill>
                  <a:schemeClr val="bg2">
                    <a:lumMod val="40000"/>
                    <a:lumOff val="60000"/>
                  </a:schemeClr>
                </a:solidFill>
                <a:ln w="3175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</p:grpSp>
        </p:grpSp>
        <p:cxnSp>
          <p:nvCxnSpPr>
            <p:cNvPr id="23" name="Straight Connector 22"/>
            <p:cNvCxnSpPr/>
            <p:nvPr/>
          </p:nvCxnSpPr>
          <p:spPr>
            <a:xfrm rot="16200000" flipH="1">
              <a:off x="2217480" y="4026438"/>
              <a:ext cx="4711326" cy="2286"/>
            </a:xfrm>
            <a:prstGeom prst="line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01" y="1708990"/>
            <a:ext cx="3566160" cy="832503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30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301" y="2590801"/>
            <a:ext cx="3566160" cy="348456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5539" y="1708990"/>
            <a:ext cx="3566160" cy="832503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30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5539" y="2590801"/>
            <a:ext cx="3566160" cy="348456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 userDrawn="1"/>
        </p:nvGrpSpPr>
        <p:grpSpPr>
          <a:xfrm>
            <a:off x="147311" y="244158"/>
            <a:ext cx="8778240" cy="6510602"/>
            <a:chOff x="182880" y="173699"/>
            <a:chExt cx="8778240" cy="6510602"/>
          </a:xfrm>
        </p:grpSpPr>
        <p:sp>
          <p:nvSpPr>
            <p:cNvPr id="13" name="Rectangle 12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5" name="Rectangle 14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6" name="Straight Connector 15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" name="Rectangle 16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82880" y="173699"/>
            <a:ext cx="8778240" cy="651060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</a:effectLst>
          <a:scene3d>
            <a:camera prst="perspectiveFront" fov="4800000"/>
            <a:lightRig rig="threePt" dir="t"/>
          </a:scene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6" name="Group 1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19" name="Rectangle 18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33" name="Rectangle 32"/>
            <p:cNvSpPr/>
            <p:nvPr/>
          </p:nvSpPr>
          <p:spPr>
            <a:xfrm rot="5400000">
              <a:off x="801086" y="3274090"/>
              <a:ext cx="613562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25" y="1169892"/>
            <a:ext cx="3008313" cy="9144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8319" y="609600"/>
            <a:ext cx="4114800" cy="5465763"/>
          </a:xfrm>
        </p:spPr>
        <p:txBody>
          <a:bodyPr>
            <a:normAutofit/>
          </a:bodyPr>
          <a:lstStyle>
            <a:lvl1pPr>
              <a:defRPr sz="2400" baseline="0"/>
            </a:lvl1pPr>
            <a:lvl2pPr>
              <a:defRPr sz="22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225" y="2147888"/>
            <a:ext cx="3008313" cy="326231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2000"/>
              </a:spcBef>
              <a:buClr>
                <a:schemeClr val="bg1">
                  <a:lumMod val="75000"/>
                  <a:lumOff val="25000"/>
                </a:schemeClr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26" name="Group 2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182880" y="173699"/>
                <a:ext cx="8778240" cy="6510602"/>
                <a:chOff x="182880" y="173699"/>
                <a:chExt cx="8778240" cy="6510602"/>
              </a:xfrm>
            </p:grpSpPr>
            <p:sp>
              <p:nvSpPr>
                <p:cNvPr id="29" name="Rectangle 28"/>
                <p:cNvSpPr/>
                <p:nvPr/>
              </p:nvSpPr>
              <p:spPr>
                <a:xfrm>
                  <a:off x="182880" y="173699"/>
                  <a:ext cx="8778240" cy="651060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noFill/>
                </a:ln>
                <a:effectLst>
                  <a:outerShdw blurRad="63500" sx="101000" sy="101000" algn="ctr" rotWithShape="0">
                    <a:prstClr val="black">
                      <a:alpha val="40000"/>
                    </a:prstClr>
                  </a:outerShdw>
                </a:effectLst>
                <a:scene3d>
                  <a:camera prst="perspectiveFront" fov="4800000"/>
                  <a:lightRig rig="threePt" dir="t"/>
                </a:scene3d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0" name="Group 10"/>
                <p:cNvGrpSpPr/>
                <p:nvPr/>
              </p:nvGrpSpPr>
              <p:grpSpPr>
                <a:xfrm>
                  <a:off x="256032" y="237744"/>
                  <a:ext cx="8622792" cy="6364224"/>
                  <a:chOff x="247157" y="247430"/>
                  <a:chExt cx="8622792" cy="6364224"/>
                </a:xfrm>
              </p:grpSpPr>
              <p:sp>
                <p:nvSpPr>
                  <p:cNvPr id="31" name="Rectangle 30"/>
                  <p:cNvSpPr>
                    <a:spLocks/>
                  </p:cNvSpPr>
                  <p:nvPr/>
                </p:nvSpPr>
                <p:spPr>
                  <a:xfrm>
                    <a:off x="247157" y="247430"/>
                    <a:ext cx="8622792" cy="6364224"/>
                  </a:xfrm>
                  <a:prstGeom prst="rect">
                    <a:avLst/>
                  </a:prstGeom>
                  <a:noFill/>
                  <a:ln w="12700">
                    <a:solidFill>
                      <a:schemeClr val="tx2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cxnSp>
                <p:nvCxnSpPr>
                  <p:cNvPr id="32" name="Straight Connector 31"/>
                  <p:cNvCxnSpPr/>
                  <p:nvPr/>
                </p:nvCxnSpPr>
                <p:spPr>
                  <a:xfrm>
                    <a:off x="247157" y="6389024"/>
                    <a:ext cx="8622792" cy="158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2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sp>
            <p:nvSpPr>
              <p:cNvPr id="28" name="Rectangle 27"/>
              <p:cNvSpPr/>
              <p:nvPr/>
            </p:nvSpPr>
            <p:spPr>
              <a:xfrm rot="5400000">
                <a:off x="801086" y="3274090"/>
                <a:ext cx="6135624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5" name="Rectangle 24"/>
            <p:cNvSpPr/>
            <p:nvPr/>
          </p:nvSpPr>
          <p:spPr>
            <a:xfrm rot="10800000">
              <a:off x="258763" y="1594462"/>
              <a:ext cx="357530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25" y="1694329"/>
            <a:ext cx="3008313" cy="9144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8319" y="609600"/>
            <a:ext cx="4114800" cy="5465763"/>
          </a:xfrm>
        </p:spPr>
        <p:txBody>
          <a:bodyPr>
            <a:normAutofit/>
          </a:bodyPr>
          <a:lstStyle>
            <a:lvl1pPr>
              <a:defRPr sz="2400" baseline="0"/>
            </a:lvl1pPr>
            <a:lvl2pPr>
              <a:defRPr sz="22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225" y="2672323"/>
            <a:ext cx="3008313" cy="340304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352892" y="310123"/>
            <a:ext cx="3398837" cy="1204912"/>
          </a:xfrm>
        </p:spPr>
        <p:txBody>
          <a:bodyPr>
            <a:normAutofit/>
          </a:bodyPr>
          <a:lstStyle>
            <a:lvl1pPr>
              <a:buNone/>
              <a:defRPr sz="1800"/>
            </a:lvl1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6" name="Group 1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20" name="Rectangle 19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17" name="Rectangle 16"/>
            <p:cNvSpPr/>
            <p:nvPr/>
          </p:nvSpPr>
          <p:spPr>
            <a:xfrm rot="5400000">
              <a:off x="801086" y="3274090"/>
              <a:ext cx="613562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691640"/>
            <a:ext cx="3008376" cy="914400"/>
          </a:xfrm>
        </p:spPr>
        <p:txBody>
          <a:bodyPr anchor="b">
            <a:no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38559" y="612775"/>
            <a:ext cx="4114800" cy="546811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352" y="2670048"/>
            <a:ext cx="3008376" cy="34015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lnSpc>
                <a:spcPct val="120000"/>
              </a:lnSpc>
              <a:spcBef>
                <a:spcPts val="2000"/>
              </a:spcBef>
              <a:buClr>
                <a:schemeClr val="bg1">
                  <a:lumMod val="75000"/>
                  <a:lumOff val="25000"/>
                </a:schemeClr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7" name="Group 16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22" name="Rectangle 21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20" name="Rectangle 19"/>
            <p:cNvSpPr/>
            <p:nvPr/>
          </p:nvSpPr>
          <p:spPr>
            <a:xfrm>
              <a:off x="256032" y="4203192"/>
              <a:ext cx="8622792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1" y="4287819"/>
            <a:ext cx="8021977" cy="916193"/>
          </a:xfrm>
        </p:spPr>
        <p:txBody>
          <a:bodyPr anchor="b">
            <a:no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6347" y="331694"/>
            <a:ext cx="8421624" cy="378310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351" y="5271247"/>
            <a:ext cx="8021977" cy="101301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lnSpc>
                <a:spcPct val="120000"/>
              </a:lnSpc>
              <a:spcBef>
                <a:spcPts val="2000"/>
              </a:spcBef>
              <a:buClr>
                <a:schemeClr val="bg1">
                  <a:lumMod val="75000"/>
                  <a:lumOff val="25000"/>
                </a:schemeClr>
              </a:buClr>
              <a:buFont typeface="Arial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4" name="Rectangle 13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6" name="Rectangle 15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" name="Rectangle 17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4" name="Group 13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17" name="Rectangle 16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18" name="Rectangle 17"/>
            <p:cNvSpPr/>
            <p:nvPr/>
          </p:nvSpPr>
          <p:spPr>
            <a:xfrm rot="5400000">
              <a:off x="4242277" y="3274090"/>
              <a:ext cx="613562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399" y="609600"/>
            <a:ext cx="1416423" cy="5516563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222" y="609600"/>
            <a:ext cx="6279777" cy="5516563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12" y="2133601"/>
            <a:ext cx="7345363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60000"/>
                    <a:lumOff val="40000"/>
                  </a:schemeClr>
                </a:solidFill>
                <a:latin typeface="Brush Script MT" pitchFamily="66" charset="0"/>
              </a:defRPr>
            </a:lvl1pPr>
          </a:lstStyle>
          <a:p>
            <a:fld id="{7D290233-0DD1-4A80-BB1E-9ADC3556DBB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bg2">
                    <a:lumMod val="60000"/>
                    <a:lumOff val="40000"/>
                  </a:schemeClr>
                </a:solidFill>
                <a:latin typeface="Brush Script MT" pitchFamily="66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200" kern="120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FE4BAC9-6D41-4691-9299-18EF07EF017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8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9438" indent="-228600" algn="l" defTabSz="914400" rtl="0" eaLnBrk="1" latinLnBrk="0" hangingPunct="1">
        <a:spcBef>
          <a:spcPts val="6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8038" indent="-2286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36638" indent="-228600" algn="l" defTabSz="914400" rtl="0" eaLnBrk="1" latinLnBrk="0" hangingPunct="1">
        <a:spcBef>
          <a:spcPts val="6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65238" indent="-2286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85900" indent="-228600" algn="l" defTabSz="914400" rtl="0" eaLnBrk="1" latinLnBrk="0" hangingPunct="1">
        <a:spcBef>
          <a:spcPct val="200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712913" indent="-228600" algn="l" defTabSz="914400" rtl="0" eaLnBrk="1" latinLnBrk="0" hangingPunct="1"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947863" indent="-228600" algn="l" defTabSz="914400" rtl="0" eaLnBrk="1" latinLnBrk="0" hangingPunct="1">
        <a:spcBef>
          <a:spcPct val="200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174875" indent="-228600" algn="l" defTabSz="914400" rtl="0" eaLnBrk="1" latinLnBrk="0" hangingPunct="1"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2590475"/>
            <a:ext cx="7345362" cy="16764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Final: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Tulip Germination</a:t>
            </a:r>
          </a:p>
        </p:txBody>
      </p:sp>
    </p:spTree>
    <p:extLst>
      <p:ext uri="{BB962C8B-B14F-4D97-AF65-F5344CB8AC3E}">
        <p14:creationId xmlns:p14="http://schemas.microsoft.com/office/powerpoint/2010/main" val="2557217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Tulip Fields in the Netherlands</a:t>
            </a:r>
          </a:p>
        </p:txBody>
      </p:sp>
      <p:pic>
        <p:nvPicPr>
          <p:cNvPr id="3" name="Picture 2" descr="a_Oranje_tulpe-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90" y="1796075"/>
            <a:ext cx="3231895" cy="2089306"/>
          </a:xfrm>
          <a:prstGeom prst="rect">
            <a:avLst/>
          </a:prstGeom>
        </p:spPr>
      </p:pic>
      <p:pic>
        <p:nvPicPr>
          <p:cNvPr id="5" name="Picture 4" descr="Tulips-field-Holland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071" y="1796075"/>
            <a:ext cx="3536403" cy="2210252"/>
          </a:xfrm>
          <a:prstGeom prst="rect">
            <a:avLst/>
          </a:prstGeom>
        </p:spPr>
      </p:pic>
      <p:pic>
        <p:nvPicPr>
          <p:cNvPr id="6" name="Picture 5" descr="Tulip-Fields-The-Netherlands-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27" y="4006327"/>
            <a:ext cx="3761104" cy="2479387"/>
          </a:xfrm>
          <a:prstGeom prst="rect">
            <a:avLst/>
          </a:prstGeom>
        </p:spPr>
      </p:pic>
      <p:pic>
        <p:nvPicPr>
          <p:cNvPr id="7" name="Picture 6" descr="Tullips-of-Holland-Awesome-Scene-HD-Wallpapers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693" y="4245226"/>
            <a:ext cx="3584781" cy="2240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26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Tulips in Netherlands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Came to Netherlands in mid-16</a:t>
            </a:r>
            <a:r>
              <a:rPr lang="en-US" baseline="30000" dirty="0"/>
              <a:t>th</a:t>
            </a:r>
            <a:r>
              <a:rPr lang="en-US" dirty="0"/>
              <a:t> century and quickly become a symbol of the region.</a:t>
            </a:r>
          </a:p>
          <a:p>
            <a:r>
              <a:rPr lang="en-US" dirty="0"/>
              <a:t>Tulips bloom between mid-March to the end of May and attract tourists from all over the world.</a:t>
            </a:r>
          </a:p>
          <a:p>
            <a:r>
              <a:rPr lang="en-US" dirty="0"/>
              <a:t>9 million bulbs produced annually.</a:t>
            </a:r>
          </a:p>
          <a:p>
            <a:r>
              <a:rPr lang="en-US" dirty="0"/>
              <a:t>Account for 25% of agricultural exports.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885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Growing Tulips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Best to plant tulips in the Fall.</a:t>
            </a:r>
          </a:p>
          <a:p>
            <a:r>
              <a:rPr lang="en-US" dirty="0"/>
              <a:t>Require a “chilling time” to bloom.</a:t>
            </a:r>
          </a:p>
          <a:p>
            <a:r>
              <a:rPr lang="en-US" dirty="0"/>
              <a:t>Need to be planted in well-drained and airy soil (flooding can be devastating to tulips).</a:t>
            </a:r>
          </a:p>
          <a:p>
            <a:r>
              <a:rPr lang="en-US" dirty="0"/>
              <a:t>Once they start to grow, require lots of sunlight.</a:t>
            </a:r>
          </a:p>
        </p:txBody>
      </p:sp>
    </p:spTree>
    <p:extLst>
      <p:ext uri="{BB962C8B-B14F-4D97-AF65-F5344CB8AC3E}">
        <p14:creationId xmlns:p14="http://schemas.microsoft.com/office/powerpoint/2010/main" val="1065434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Climate Change in the Netherlands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457200">
              <a:buFont typeface="+mj-lt"/>
              <a:buAutoNum type="arabicPeriod"/>
            </a:pPr>
            <a:r>
              <a:rPr lang="en-US" dirty="0"/>
              <a:t>Observed temperature rise is about twice global average.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Precipitation may increase by as much as 5%.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Higher risk of flooding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Increases in sea levels affect negative elevation areas.</a:t>
            </a:r>
          </a:p>
        </p:txBody>
      </p:sp>
    </p:spTree>
    <p:extLst>
      <p:ext uri="{BB962C8B-B14F-4D97-AF65-F5344CB8AC3E}">
        <p14:creationId xmlns:p14="http://schemas.microsoft.com/office/powerpoint/2010/main" val="2475100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3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Tulip Germination Experiment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457200"/>
            <a:r>
              <a:rPr lang="en-US" dirty="0"/>
              <a:t>Goal:  Get bulbs to germinate.</a:t>
            </a:r>
          </a:p>
          <a:p>
            <a:pPr marL="571500" indent="-457200"/>
            <a:r>
              <a:rPr lang="en-US" dirty="0"/>
              <a:t>Data: </a:t>
            </a:r>
          </a:p>
          <a:p>
            <a:pPr lvl="1">
              <a:buFont typeface="Wingdings" charset="2"/>
              <a:buChar char="§"/>
            </a:pPr>
            <a:r>
              <a:rPr lang="en-US" dirty="0"/>
              <a:t>210 bulbs from 12 different “populations” collected from the fields. </a:t>
            </a:r>
          </a:p>
          <a:p>
            <a:pPr lvl="1">
              <a:buFont typeface="Wingdings" charset="2"/>
              <a:buChar char="§"/>
            </a:pPr>
            <a:r>
              <a:rPr lang="en-US" dirty="0"/>
              <a:t>Each population randomly split into 7 groups (30 in each group) and assigned to one of 7 different chilling times in the lab (0, 2, 4, …, 12 weeks).</a:t>
            </a:r>
          </a:p>
          <a:p>
            <a:pPr lvl="1">
              <a:buFont typeface="Wingdings" charset="2"/>
              <a:buChar char="§"/>
            </a:pPr>
            <a:r>
              <a:rPr lang="en-US" dirty="0"/>
              <a:t>Response was if bulb germinated (sprouted).</a:t>
            </a:r>
          </a:p>
          <a:p>
            <a:pPr lvl="1">
              <a:buFont typeface="Wingdings" charset="2"/>
              <a:buChar char="§"/>
            </a:pPr>
            <a:r>
              <a:rPr lang="en-US" dirty="0"/>
              <a:t>Note: 30 x 7 x 12 = 2520 rows </a:t>
            </a:r>
          </a:p>
          <a:p>
            <a:pPr>
              <a:buFont typeface="Wingdings" charset="2"/>
              <a:buChar char="§"/>
            </a:pPr>
            <a:endParaRPr lang="en-US" dirty="0"/>
          </a:p>
          <a:p>
            <a:pPr lvl="1">
              <a:buFont typeface="Wingdings" charset="2"/>
              <a:buChar char="§"/>
            </a:pPr>
            <a:endParaRPr lang="en-US" dirty="0"/>
          </a:p>
          <a:p>
            <a:pPr lvl="1">
              <a:buFont typeface="Wingdings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133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Tulip Experiment </a:t>
            </a:r>
            <a:br>
              <a:rPr lang="en-US" dirty="0"/>
            </a:br>
            <a:r>
              <a:rPr lang="en-US" dirty="0"/>
              <a:t>Research Questions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00112" y="2133601"/>
            <a:ext cx="7345363" cy="3931920"/>
          </a:xfrm>
        </p:spPr>
        <p:txBody>
          <a:bodyPr>
            <a:normAutofit/>
          </a:bodyPr>
          <a:lstStyle/>
          <a:p>
            <a:pPr marL="571500" indent="-457200"/>
            <a:r>
              <a:rPr lang="en-US" sz="2000" dirty="0">
                <a:effectLst/>
              </a:rPr>
              <a:t>What is the effect of chilling time for the different species of tulips? Is it the same across the species? Which species are the same/different?</a:t>
            </a:r>
          </a:p>
          <a:p>
            <a:pPr marL="571500" indent="-457200"/>
            <a:r>
              <a:rPr lang="en-US" sz="2000" dirty="0">
                <a:effectLst/>
              </a:rPr>
              <a:t>Is there an ideal chilling time for each species? If so, is it the same for all species?</a:t>
            </a:r>
          </a:p>
          <a:p>
            <a:pPr marL="571500" indent="-457200"/>
            <a:r>
              <a:rPr lang="en-US" sz="2000" dirty="0">
                <a:effectLst/>
              </a:rPr>
              <a:t>Given climate change conditions, winters are expected to decrease from 10 to 9 weeks in the coming few years. What effect will this decrease in chilling time have on the probability of germination for each species? Is it the same for all species?</a:t>
            </a:r>
          </a:p>
          <a:p>
            <a:pPr marL="571500" indent="-457200"/>
            <a:endParaRPr lang="en-US" sz="2000" dirty="0"/>
          </a:p>
          <a:p>
            <a:pPr lvl="1">
              <a:buFont typeface="Wingdings" charset="2"/>
              <a:buChar char="§"/>
            </a:pPr>
            <a:endParaRPr lang="en-US" sz="2000" dirty="0"/>
          </a:p>
          <a:p>
            <a:pPr lvl="1">
              <a:buFont typeface="Wingdings" charset="2"/>
              <a:buChar char="§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32988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Rules for the Final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00112" y="2133601"/>
            <a:ext cx="7345363" cy="3931920"/>
          </a:xfrm>
        </p:spPr>
        <p:txBody>
          <a:bodyPr/>
          <a:lstStyle/>
          <a:p>
            <a:pPr marL="571500" indent="-457200"/>
            <a:r>
              <a:rPr lang="en-US" dirty="0"/>
              <a:t>Reports must be done on your own – please minimize talk between each other.</a:t>
            </a:r>
          </a:p>
          <a:p>
            <a:pPr marL="571500" indent="-457200"/>
            <a:r>
              <a:rPr lang="en-US" dirty="0"/>
              <a:t>Final reports are 20 minute oral presentations.  Submit your slides on </a:t>
            </a:r>
            <a:r>
              <a:rPr lang="en-US" dirty="0" err="1"/>
              <a:t>Gradescope</a:t>
            </a:r>
            <a:r>
              <a:rPr lang="en-US" dirty="0"/>
              <a:t> before your presentation time. You can sign up for a presentation slot with the link on Canvas.</a:t>
            </a:r>
          </a:p>
          <a:p>
            <a:pPr marL="571500" indent="-457200"/>
            <a:r>
              <a:rPr lang="en-US" dirty="0"/>
              <a:t>I’m available to answer coding and “how” questions but not “what” questions.</a:t>
            </a:r>
          </a:p>
          <a:p>
            <a:pPr lvl="1">
              <a:buFont typeface="Wingdings" charset="2"/>
              <a:buChar char="§"/>
            </a:pPr>
            <a:endParaRPr lang="en-US" dirty="0"/>
          </a:p>
          <a:p>
            <a:pPr lvl="1">
              <a:buFont typeface="Wingdings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14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Expectations for the Final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00112" y="2133601"/>
            <a:ext cx="7345363" cy="3931920"/>
          </a:xfrm>
        </p:spPr>
        <p:txBody>
          <a:bodyPr>
            <a:normAutofit fontScale="92500" lnSpcReduction="10000"/>
          </a:bodyPr>
          <a:lstStyle/>
          <a:p>
            <a:pPr marL="571500" indent="-457200"/>
            <a:r>
              <a:rPr lang="en-US" dirty="0"/>
              <a:t>Two proposed models: </a:t>
            </a:r>
          </a:p>
          <a:p>
            <a:pPr marL="808038" lvl="1" indent="-457200"/>
            <a:r>
              <a:rPr lang="en-US" dirty="0"/>
              <a:t>One in the linear model framework (includes lasso/ridge, splines, logistic, etc.)</a:t>
            </a:r>
          </a:p>
          <a:p>
            <a:pPr marL="808038" lvl="1" indent="-457200"/>
            <a:r>
              <a:rPr lang="en-US" dirty="0"/>
              <a:t>One machine learning method (trees/forests, neural nets, SVM, discriminant analysis, KNN, etc.)</a:t>
            </a:r>
          </a:p>
          <a:p>
            <a:pPr marL="571500" indent="-457200"/>
            <a:r>
              <a:rPr lang="en-US" dirty="0"/>
              <a:t>Audience: Dr. Fisher</a:t>
            </a:r>
          </a:p>
          <a:p>
            <a:pPr marL="571500" indent="-457200"/>
            <a:r>
              <a:rPr lang="en-US" dirty="0"/>
              <a:t>Answer the research questions explicitly</a:t>
            </a:r>
          </a:p>
          <a:p>
            <a:pPr marL="808038" lvl="1" indent="-457200"/>
            <a:r>
              <a:rPr lang="en-US" dirty="0"/>
              <a:t>Use visualizations, especially as it’s a presentation and pictures are worth 1000 words (and this slide has too much text for a real presentation, on purpose… but it is an instruction slide and I’m striving for clarity)</a:t>
            </a:r>
          </a:p>
          <a:p>
            <a:pPr marL="808038" lvl="1" indent="-457200"/>
            <a:endParaRPr lang="en-US" dirty="0"/>
          </a:p>
          <a:p>
            <a:pPr lvl="1">
              <a:buFont typeface="Wingdings" charset="2"/>
              <a:buChar char="§"/>
            </a:pPr>
            <a:endParaRPr lang="en-US" dirty="0"/>
          </a:p>
          <a:p>
            <a:pPr lvl="1">
              <a:buFont typeface="Wingdings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810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Expectations for the Final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00112" y="2133601"/>
            <a:ext cx="7345363" cy="3931920"/>
          </a:xfrm>
        </p:spPr>
        <p:txBody>
          <a:bodyPr/>
          <a:lstStyle/>
          <a:p>
            <a:pPr marL="571500" indent="-457200"/>
            <a:r>
              <a:rPr lang="en-US" dirty="0"/>
              <a:t>Follow the rubric</a:t>
            </a:r>
          </a:p>
          <a:p>
            <a:pPr marL="808038" lvl="1" indent="-457200"/>
            <a:r>
              <a:rPr lang="en-US" dirty="0"/>
              <a:t>Fully describe the techniques you use and tell me why it’s good for this scenario!</a:t>
            </a:r>
          </a:p>
          <a:p>
            <a:pPr marL="808038" lvl="1" indent="-457200"/>
            <a:r>
              <a:rPr lang="en-US" dirty="0"/>
              <a:t>Clearly state and justify any assumptions in whatever model you use.</a:t>
            </a:r>
          </a:p>
          <a:p>
            <a:pPr marL="808038" lvl="1" indent="-457200"/>
            <a:r>
              <a:rPr lang="en-US" dirty="0"/>
              <a:t>I want to see uncertainties whenever your method permits it.</a:t>
            </a:r>
          </a:p>
          <a:p>
            <a:pPr lvl="1">
              <a:buFont typeface="Wingdings" charset="2"/>
              <a:buChar char="§"/>
            </a:pPr>
            <a:endParaRPr lang="en-US" dirty="0"/>
          </a:p>
          <a:p>
            <a:pPr lvl="1">
              <a:buFont typeface="Wingdings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932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Expectations for the Final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00112" y="2133601"/>
            <a:ext cx="7345363" cy="393192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Especially focus on the </a:t>
            </a:r>
            <a:r>
              <a:rPr lang="en-US" b="1" dirty="0"/>
              <a:t>BOLD </a:t>
            </a:r>
            <a:r>
              <a:rPr lang="en-US" dirty="0"/>
              <a:t>parts of the rubric</a:t>
            </a:r>
          </a:p>
          <a:p>
            <a:pPr marL="808038" lvl="1" indent="-457200"/>
            <a:r>
              <a:rPr lang="en-US" dirty="0"/>
              <a:t>EDA: find peculiarities/challenges in the data and in using the data to answer the research questions (with good plots/figures)</a:t>
            </a:r>
          </a:p>
          <a:p>
            <a:pPr marL="808038" lvl="1" indent="-457200"/>
            <a:r>
              <a:rPr lang="en-US" dirty="0"/>
              <a:t>Propose models that appropriately address both the data's limitations and the research questions. </a:t>
            </a:r>
          </a:p>
          <a:p>
            <a:pPr marL="808038" lvl="1" indent="-457200"/>
            <a:r>
              <a:rPr lang="en-US" dirty="0"/>
              <a:t>Model Choice: IS/OOS vs. interpretability </a:t>
            </a:r>
          </a:p>
          <a:p>
            <a:pPr marL="808038" lvl="1" indent="-457200"/>
            <a:r>
              <a:rPr lang="en-US" dirty="0"/>
              <a:t>Answering research questions well, with good figures when you can/when appropriate.</a:t>
            </a:r>
          </a:p>
          <a:p>
            <a:pPr marL="808038" lvl="1" indent="-457200"/>
            <a:r>
              <a:rPr lang="en-US" dirty="0"/>
              <a:t>Did I mention using helpful visualizations? ;)  </a:t>
            </a:r>
          </a:p>
        </p:txBody>
      </p:sp>
    </p:spTree>
    <p:extLst>
      <p:ext uri="{BB962C8B-B14F-4D97-AF65-F5344CB8AC3E}">
        <p14:creationId xmlns:p14="http://schemas.microsoft.com/office/powerpoint/2010/main" val="297218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theme/_rels/them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l">
  <a:themeElements>
    <a:clrScheme name="Capital">
      <a:dk1>
        <a:srgbClr val="000000"/>
      </a:dk1>
      <a:lt1>
        <a:srgbClr val="FFFFFF"/>
      </a:lt1>
      <a:dk2>
        <a:srgbClr val="6F6D5D"/>
      </a:dk2>
      <a:lt2>
        <a:srgbClr val="7C8F97"/>
      </a:lt2>
      <a:accent1>
        <a:srgbClr val="4B5A60"/>
      </a:accent1>
      <a:accent2>
        <a:srgbClr val="9C5238"/>
      </a:accent2>
      <a:accent3>
        <a:srgbClr val="504539"/>
      </a:accent3>
      <a:accent4>
        <a:srgbClr val="C1AD79"/>
      </a:accent4>
      <a:accent5>
        <a:srgbClr val="667559"/>
      </a:accent5>
      <a:accent6>
        <a:srgbClr val="BAD6AD"/>
      </a:accent6>
      <a:hlink>
        <a:srgbClr val="524A82"/>
      </a:hlink>
      <a:folHlink>
        <a:srgbClr val="8F9954"/>
      </a:folHlink>
    </a:clrScheme>
    <a:fontScheme name="Capital">
      <a:majorFont>
        <a:latin typeface="Calisto MT"/>
        <a:ea typeface=""/>
        <a:cs typeface=""/>
        <a:font script="Jpan" typeface="ＭＳ 明朝"/>
      </a:majorFont>
      <a:minorFont>
        <a:latin typeface="Calisto MT"/>
        <a:ea typeface=""/>
        <a:cs typeface=""/>
        <a:font script="Jpan" typeface="ＭＳ 明朝"/>
      </a:minorFont>
    </a:fontScheme>
    <a:fmtScheme name="Capital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atMod val="150000"/>
                <a:lumMod val="50000"/>
              </a:schemeClr>
              <a:schemeClr val="phClr">
                <a:satMod val="300000"/>
                <a:lumMod val="125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atMod val="135000"/>
                <a:lumMod val="80000"/>
              </a:schemeClr>
              <a:schemeClr val="phClr">
                <a:satMod val="250000"/>
                <a:lumMod val="150000"/>
              </a:schemeClr>
            </a:duotone>
          </a:blip>
          <a:stretch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>
              <a:shade val="90000"/>
            </a:schemeClr>
          </a:solidFill>
          <a:prstDash val="solid"/>
        </a:ln>
        <a:ln w="44450" cap="flat" cmpd="sng" algn="ctr">
          <a:solidFill>
            <a:schemeClr val="phClr">
              <a:shade val="85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sx="101000" sy="101000" algn="ctr" rotWithShape="0">
              <a:srgbClr val="000000">
                <a:alpha val="40000"/>
              </a:srgbClr>
            </a:outerShdw>
          </a:effectLst>
          <a:scene3d>
            <a:camera prst="perspectiveFront" fov="3000000"/>
            <a:lightRig rig="threePt" dir="tl"/>
          </a:scene3d>
          <a:sp3d>
            <a:bevelT w="0" h="0"/>
          </a:sp3d>
        </a:effectStyle>
        <a:effectStyle>
          <a:effectLst>
            <a:innerShdw blurRad="190500">
              <a:srgbClr val="000000">
                <a:alpha val="50000"/>
              </a:srgbClr>
            </a:innerShdw>
          </a:effectLst>
          <a:scene3d>
            <a:camera prst="perspectiveFront" fov="4800000"/>
            <a:lightRig rig="twoPt" dir="t">
              <a:rot lat="0" lon="0" rev="4800000"/>
            </a:lightRig>
          </a:scene3d>
          <a:sp3d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3">
            <a:duotone>
              <a:schemeClr val="phClr">
                <a:satMod val="150000"/>
                <a:lumMod val="50000"/>
              </a:schemeClr>
              <a:schemeClr val="phClr">
                <a:satMod val="400000"/>
                <a:lumMod val="16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Capital.thmx</Template>
  <TotalTime>3656</TotalTime>
  <Words>624</Words>
  <Application>Microsoft Macintosh PowerPoint</Application>
  <PresentationFormat>On-screen Show (4:3)</PresentationFormat>
  <Paragraphs>55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Brush Script MT</vt:lpstr>
      <vt:lpstr>Arial</vt:lpstr>
      <vt:lpstr>Calibri</vt:lpstr>
      <vt:lpstr>Calisto MT</vt:lpstr>
      <vt:lpstr>Wingdings</vt:lpstr>
      <vt:lpstr>Capital</vt:lpstr>
      <vt:lpstr>Final: Tulip Germination</vt:lpstr>
      <vt:lpstr>Tulip Fields in the Netherlands</vt:lpstr>
      <vt:lpstr>Tulips in Netherlands</vt:lpstr>
      <vt:lpstr>Growing Tulips</vt:lpstr>
      <vt:lpstr>Climate Change in the Netherlands</vt:lpstr>
      <vt:lpstr>Tulip Germination Experiment</vt:lpstr>
      <vt:lpstr>Tulip Experiment  Research Questions</vt:lpstr>
      <vt:lpstr>Rules for the Final</vt:lpstr>
      <vt:lpstr>Expectations for the Final</vt:lpstr>
      <vt:lpstr>Expectations for the Final</vt:lpstr>
      <vt:lpstr>Expectations for the Final</vt:lpstr>
    </vt:vector>
  </TitlesOfParts>
  <Company>BYU Department of Statistics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Statistical Learning</dc:title>
  <dc:creator>Matt Heaton</dc:creator>
  <cp:lastModifiedBy>Jared Fisher</cp:lastModifiedBy>
  <cp:revision>616</cp:revision>
  <cp:lastPrinted>2014-02-14T17:38:42Z</cp:lastPrinted>
  <dcterms:created xsi:type="dcterms:W3CDTF">2014-01-06T16:08:53Z</dcterms:created>
  <dcterms:modified xsi:type="dcterms:W3CDTF">2025-12-09T00:23:11Z</dcterms:modified>
</cp:coreProperties>
</file>